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10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72591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0B4D8"/>
                </a:solidFill>
              </a:rPr>
              <a:t>LOG MONITOR MLOps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Sistema Híbrido de Deteção de Anomalias em 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6E0"/>
                </a:solidFill>
              </a:rPr>
              <a:t>Relatório Intermédio  ·  Projeto Integrado LEIA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023360"/>
            <a:ext cx="5788152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10725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CD6E0"/>
                </a:solidFill>
              </a:rPr>
              <a:t>Raúl Brito   |   A22309632   |   Orientador: Acácio Carmona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IPLUSO — EET  ·  06 / 05 /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5212080"/>
            <a:ext cx="265176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52303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Semana 14  ·  Goals A–C Concluídos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1/14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15 minutos  ·  14 slides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71016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127101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12344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O Problema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271016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0256" y="127101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6016" y="123444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Solução Proposta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18488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" y="1618488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15819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Arquitectura (10 microserviços)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0" y="1618488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0256" y="1618488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86016" y="15819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Pipeline ML Híbrido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965960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6" y="196596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19293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Resultados de Performance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965960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20256" y="1965960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86016" y="19293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Monitorização &amp; Observabilidade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313432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6" y="231343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" y="22768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Security Hardening (S14)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313432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0256" y="2313432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6016" y="227685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CI/CD &amp; Qualidade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660904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6" y="266090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" y="26243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Benchmarking &amp; Gap Analysis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2660904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20256" y="2660904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86016" y="262432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Pertinência e Viabilidade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008376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3776" y="300837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11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" y="2971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Planeamento — Goals A–D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83680" y="3008376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20256" y="3008376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12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86016" y="297180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Estado Atual &amp; Próximos Passos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355848"/>
            <a:ext cx="347472" cy="274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3776" y="3355848"/>
            <a:ext cx="2926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" y="33192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Conclusão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2/14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1 — O 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Contexto e Motivação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53172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Contexto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2715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Organizações geram milhões de logs/dia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6544"/>
            <a:ext cx="52715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Análise manual é inviável à escala atual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87168"/>
            <a:ext cx="52715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Ataques modernos requerem deteção em tempo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07792"/>
            <a:ext cx="52715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GDPR Art. 22 &amp; AI Act exigem explicabilidade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28416"/>
            <a:ext cx="52715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NIS2: requisitos de cibersegurança obrigatórios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1636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68796" y="1234440"/>
            <a:ext cx="53172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F1C"/>
                </a:solidFill>
              </a:rPr>
              <a:t>Lacuna de Mercado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4516" y="1645920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€30k–€100k/ano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3276" y="1645920"/>
            <a:ext cx="36713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Custo das soluções SIEM enterprise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4516" y="2066544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Splunk / QRadar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3276" y="2066544"/>
            <a:ext cx="36713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Desenhados para grandes orgs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4516" y="2487168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Sem explicabilidade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3276" y="2487168"/>
            <a:ext cx="36713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Caixas-negras sem justificação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4516" y="2907792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Sem feedback ML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3276" y="2907792"/>
            <a:ext cx="36713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Regras estáticas, sem aprendizagem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4516" y="3328416"/>
            <a:ext cx="1463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Open-source?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23276" y="3328416"/>
            <a:ext cx="36713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</a:rPr>
              <a:t>Não há alternativa academicamente rigorosa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3/14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2 — Solução Proposta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Log Monitor MLOps — alternativa open-source, demo-ready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90E0EF"/>
                </a:solidFill>
              </a:rPr>
              <a:t>Sistema híbrido de deteção de anomalias em logs de aplicações web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3727704" cy="365760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737360"/>
            <a:ext cx="3727704" cy="54864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847088"/>
            <a:ext cx="35448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D68A"/>
                </a:solidFill>
              </a:rPr>
              <a:t>Regras SQL
Determinísticas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651760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6 padrões de ataque activos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127248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0 falsos positivos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602736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Latência 7,6–40,8 ms/regra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078224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SQL nativo — auditável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0624" y="1737360"/>
            <a:ext cx="3727704" cy="365760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30624" y="1737360"/>
            <a:ext cx="3727704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22064" y="1847088"/>
            <a:ext cx="35448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Machine Learning
Não-Supervisionado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0352" y="2651760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Isolation Forest (novelty)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0352" y="3127248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F1 = 0,838  |  ROC-AUC 0,95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0352" y="3602736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Treino apenas em normais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0352" y="4078224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Detecta ataques nunca vistos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5488" y="1737360"/>
            <a:ext cx="3727704" cy="365760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95488" y="1737360"/>
            <a:ext cx="3727704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86928" y="1847088"/>
            <a:ext cx="354482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9F1C"/>
                </a:solidFill>
              </a:rPr>
              <a:t>Explicabilidade
SHAP + LIME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05216" y="2651760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Cada decisão tem justificação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5216" y="3127248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Conformidade GDPR Art. 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5216" y="3602736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AI Act: transparência obrigatória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5216" y="4078224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▸ Ablation study confirma ensemble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4/14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3 — Arquitectura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10 microserviços · 5 camadas · Docker Compose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828800" cy="62179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Aplicação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2240279" y="1143000"/>
            <a:ext cx="9582913" cy="62179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77440" y="1289304"/>
            <a:ext cx="9308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Flask app (gerador de logs + API ingestão)  ·  Pydantic  ·  Flask-Limiter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19656"/>
            <a:ext cx="1828800" cy="621792"/>
          </a:xfrm>
          <a:prstGeom prst="rect">
            <a:avLst/>
          </a:prstGeom>
          <a:solidFill>
            <a:srgbClr val="48C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195681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Armazenamento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79" y="1819656"/>
            <a:ext cx="9582913" cy="62179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377440" y="1965960"/>
            <a:ext cx="9308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PostgreSQL + TimescaleDB (hypertables)  ·  ACID  ·  séries temporais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96312"/>
            <a:ext cx="1828800" cy="621792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26334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Detecção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40279" y="2496312"/>
            <a:ext cx="9582913" cy="62179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77440" y="2642616"/>
            <a:ext cx="9308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Rule Engine SQL (6 regras)  +  ML Pipeline (Isolation Forest + Random Forest + MLflow)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72968"/>
            <a:ext cx="1828800" cy="62179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33101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Explicabilidade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40279" y="3172968"/>
            <a:ext cx="9582913" cy="62179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77440" y="3319272"/>
            <a:ext cx="9308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SHAP  ·  LIME  ·  Ablation study  ·  Feedback loop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49624"/>
            <a:ext cx="1828800" cy="62179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398678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Monitorização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40279" y="3849624"/>
            <a:ext cx="9582913" cy="62179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77440" y="3995928"/>
            <a:ext cx="9308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Prometheus (9 métricas custom)  ·  Grafana (3 dashboards)  ·  Streamlit dashboard  ·  SLOs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526280"/>
            <a:ext cx="1828800" cy="621792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11480" y="4663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Infraestrutura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40279" y="4526280"/>
            <a:ext cx="9582913" cy="62179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377440" y="4672584"/>
            <a:ext cx="93085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Docker Compose (multi-stage builds: ~1,2 GB → ~180 MB/img)  ·  GitHub Actions CI/CD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5/14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4 — Pipeline ML Híbrido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Isolation Forest + Random Forest + SHAP/LIME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591556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79576"/>
            <a:ext cx="54086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Isolation Forest (não-supervisionado)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00200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Treino: apenas logs normais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75688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Teste: ataques nunca vistos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551176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8A"/>
                </a:solidFill>
              </a:rPr>
              <a:t>▸ F1-Score = 0,838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26664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8A"/>
                </a:solidFill>
              </a:rPr>
              <a:t>▸ Precision@1% = 0,941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502152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8A"/>
                </a:solidFill>
              </a:rPr>
              <a:t>▸ ROC-AUC = 0,950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977640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8A"/>
                </a:solidFill>
              </a:rPr>
              <a:t>▸ Protocolo novelty-by-scenario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453128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detecta zero-day sem labels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31636" y="1143000"/>
            <a:ext cx="5591556" cy="347472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3076" y="1179576"/>
            <a:ext cx="54086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Random Forest (supervisionado) + Ensemble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8796" y="1600200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Treino com labels de ataque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8796" y="2075688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▸ F1-Score = 0,783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8796" y="2551176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▸ Ablation: ensemble &gt; IF solo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3026664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SHAP: importância de features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8796" y="3502152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LIME: explicações locais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8796" y="3977640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▸ MLflow: tracking &amp; versionamento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68796" y="4453128"/>
            <a:ext cx="53172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→ conformidade GDPR Art. 22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6/14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5 — Resultados de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Métricas medidas em testes reais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618988" cy="24917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618988" cy="32918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170432"/>
            <a:ext cx="54361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Ingestão de Logs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54361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10.933 logs/s  (batch=500)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856232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Batch=50:  6.493 logs/s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203704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Batch=100: 7.145 logs/s  (+10%)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551176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Batch=500: 10.933 logs/s (+68%)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2898648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Batch=1000: 13.646 logs/s (+110%)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3246120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100.000 logs em 9 s  ·  39M/hora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04204" y="1143000"/>
            <a:ext cx="5618988" cy="24917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04204" y="1143000"/>
            <a:ext cx="5618988" cy="329184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95644" y="1170432"/>
            <a:ext cx="54361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Testes de Carga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5644" y="1508760"/>
            <a:ext cx="54361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8A"/>
                </a:solidFill>
              </a:rPr>
              <a:t>50 users  ·  0 falhas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3932" y="1856232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Latência mediana: 3 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3932" y="2203704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p95: 10 ms  ·  p99: 25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3932" y="2551176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50.000 logs stress test: 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3932" y="2898648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Locust 30s run, 50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13932" y="3246120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0% error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817620"/>
            <a:ext cx="5618988" cy="24917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65760" y="3817620"/>
            <a:ext cx="5618988" cy="32918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845052"/>
            <a:ext cx="54361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Rule Engine 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183380"/>
            <a:ext cx="54361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9F1C"/>
                </a:solidFill>
              </a:rPr>
              <a:t>6 regras  ·  0 falsos positivos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4530852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Latência por regra: 7,6–40,8 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4878324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Brute force, scanning, SQLi...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" y="5225796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Rate abuse, DDoS, path traversal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5573268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Deteção em tempo real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" y="5920740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0 false positives confirmados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04204" y="3817620"/>
            <a:ext cx="5618988" cy="24917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04204" y="3817620"/>
            <a:ext cx="5618988" cy="32918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295644" y="3845052"/>
            <a:ext cx="54361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Qualidade de Código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95644" y="4183380"/>
            <a:ext cx="54361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</a:rPr>
              <a:t>Pylint 9,18/10  ·  81 testes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13932" y="4530852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Cobertura: 70,97% (CI ≥70% ✓)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13932" y="4878324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0 HIGH/MEDIUM no Bandit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13932" y="5225796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54 testes de segurança OK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13932" y="5573268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CI threshold cumprido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3932" y="5920740"/>
            <a:ext cx="539953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▸ 5 containers non-root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7/14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6 — Monitorização &amp; Observabilidade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Prometheus + Grafana + Streamlit + SLOs definidos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727704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27704" cy="3657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8912" y="1179576"/>
            <a:ext cx="3581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Prometheus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618488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9 métricas custom logmonitor_*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112264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Scrape interval: 15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606040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Alertmanager configurado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3099816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Integração nativa com Flask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593592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Retenção 15 dias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30624" y="1143000"/>
            <a:ext cx="3727704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30624" y="1143000"/>
            <a:ext cx="3727704" cy="36576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03776" y="1179576"/>
            <a:ext cx="3581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Grafana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0352" y="1618488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3 dashboards auto-provisionados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0352" y="2112264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Overview · ML ·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0352" y="2606040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Provisioning via YAML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0352" y="3099816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SLO visibility em tempo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0352" y="3593592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Zero-config ao startup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5488" y="1143000"/>
            <a:ext cx="3727704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95488" y="1143000"/>
            <a:ext cx="3727704" cy="36576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68640" y="1179576"/>
            <a:ext cx="3581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SLOs Definidos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05216" y="1618488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Disponibilidade ≥ 99,5%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05216" y="2112264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p95 latência &lt; 200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05216" y="2606040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F1 do modelo ≥ 0,75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5216" y="3099816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Data freshness &lt; 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05216" y="3593592"/>
            <a:ext cx="3508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Streamlit dashboard operacional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8/14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7 — Security Hardening (S14)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Segurança aplicada em toda a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54086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8A"/>
                </a:solidFill>
              </a:rPr>
              <a:t>Medidas Implementadas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45920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5 Dockerfiles: non-root user (appuser)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84832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Rate limiting em rotas sensíveis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23744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Validação de inputs (Pydantic)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62656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Bandit: 0 HIGH / 0 MEDIUM findings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401568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Trivy container scanning no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40480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Dependabot: dependências actualizadas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79391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54 testes de segurança a passar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18304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Secrets em variáveis de ambiente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3076" y="1216152"/>
            <a:ext cx="540867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9F1C"/>
                </a:solidFill>
              </a:rPr>
              <a:t>Contexto Regulatório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3076" y="1645920"/>
            <a:ext cx="5408676" cy="54864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4516" y="1682496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OWASP Top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4516" y="1920240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Input validation, rate limiting, secrets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3076" y="2304288"/>
            <a:ext cx="5408676" cy="54864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4516" y="2340864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GDPR Art. 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4516" y="2578608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Explicabilidade de decisões automáticas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3076" y="2962656"/>
            <a:ext cx="5408676" cy="54864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14516" y="2999232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AI Act (2024)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4516" y="3236976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Sistemas de IA de alto risco: transparência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3076" y="3621024"/>
            <a:ext cx="5408676" cy="54864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14516" y="3657600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NIS2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4516" y="3895344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Cibersegurança obrigatória para serviços essenciais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3076" y="4279391"/>
            <a:ext cx="5408676" cy="548640"/>
          </a:xfrm>
          <a:prstGeom prst="rect">
            <a:avLst/>
          </a:prstGeom>
          <a:solidFill>
            <a:srgbClr val="1230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14516" y="4315967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9F1C"/>
                </a:solidFill>
              </a:rPr>
              <a:t>Non-root containers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4516" y="4553711"/>
            <a:ext cx="52257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Princípio do menor privilégio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9/14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8 — CI/CD &amp; Qualidade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GitHub Actions · 81 testes · Cobertura 70,97%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1591056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15087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Push
Git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6816" y="1737360"/>
            <a:ext cx="4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02536" y="1417320"/>
            <a:ext cx="1591056" cy="100584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029968" y="15087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Pylint
9,18/10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1737360"/>
            <a:ext cx="4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39312" y="1417320"/>
            <a:ext cx="1591056" cy="100584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66744" y="15087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Bandit
0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1737360"/>
            <a:ext cx="4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76088" y="1417320"/>
            <a:ext cx="1591056" cy="100584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03520" y="15087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Trivy
Scanning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7144" y="1737360"/>
            <a:ext cx="4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12864" y="1417320"/>
            <a:ext cx="1591056" cy="100584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0296" y="15087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Unit Tests
70,97%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1737360"/>
            <a:ext cx="4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49640" y="1417320"/>
            <a:ext cx="1591056" cy="100584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77072" y="15087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Load Test
0 falhas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0696" y="1737360"/>
            <a:ext cx="45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86416" y="1417320"/>
            <a:ext cx="1591056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13848" y="1508760"/>
            <a:ext cx="153619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Deploy
Local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651760"/>
            <a:ext cx="1591056" cy="10058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2651760"/>
            <a:ext cx="1591056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2761488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81 testes
automatizados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02536" y="2651760"/>
            <a:ext cx="1591056" cy="10058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002536" y="2651760"/>
            <a:ext cx="1591056" cy="54864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048256" y="2761488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8A"/>
                </a:solidFill>
              </a:rPr>
              <a:t>Cobertura
70,97% 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39312" y="2651760"/>
            <a:ext cx="1591056" cy="10058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639312" y="2651760"/>
            <a:ext cx="1591056" cy="54864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85032" y="2761488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D68A"/>
                </a:solidFill>
              </a:rPr>
              <a:t>Pylint
9,18/10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76088" y="2651760"/>
            <a:ext cx="1591056" cy="10058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276088" y="2651760"/>
            <a:ext cx="1591056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321808" y="2761488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9F1C"/>
                </a:solidFill>
              </a:rPr>
              <a:t>Threshold CI
≥ 70%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12864" y="2651760"/>
            <a:ext cx="1591056" cy="10058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912864" y="2651760"/>
            <a:ext cx="1591056" cy="54864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958584" y="2761488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90E0EF"/>
                </a:solidFill>
              </a:rPr>
              <a:t>Dependabot
automático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49640" y="2651760"/>
            <a:ext cx="1591056" cy="10058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549640" y="2651760"/>
            <a:ext cx="1591056" cy="54864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95360" y="2761488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CD6E0"/>
                </a:solidFill>
              </a:rPr>
              <a:t>Multi-stage
build Docker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86416" y="2651760"/>
            <a:ext cx="1591056" cy="100584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186416" y="2651760"/>
            <a:ext cx="1591056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232136" y="2761488"/>
            <a:ext cx="14996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Semana 13
Integrado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374904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D6E0"/>
                </a:solidFill>
              </a:rPr>
              <a:t>Pipeline CI/CD garante qualidade e segurança em cada commit — nenhum merge sem testes passados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10/14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9 — Benchmarking &amp; Gap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Posicionamento face a soluções comerciais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Solução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143000"/>
            <a:ext cx="155448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0" y="11887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Custo/ano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143000"/>
            <a:ext cx="18288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11887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Explicabilidade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43000"/>
            <a:ext cx="192024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ML Adaptativo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143000"/>
            <a:ext cx="164592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80" y="1188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Open-source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554480"/>
            <a:ext cx="22860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29768" y="1645920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Splunk SIEM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97480" y="1554480"/>
            <a:ext cx="155448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61488" y="1645920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€50k–€100k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554480"/>
            <a:ext cx="18288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361688" y="1645920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554480"/>
            <a:ext cx="192024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36208" y="1645920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Parcial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554480"/>
            <a:ext cx="164592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02168" y="1645920"/>
            <a:ext cx="1517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029968"/>
            <a:ext cx="22860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9768" y="2121408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IBM QRadar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97480" y="2029968"/>
            <a:ext cx="155448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61488" y="2121408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€30k–€80k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2029968"/>
            <a:ext cx="18288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61688" y="2121408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72200" y="2029968"/>
            <a:ext cx="192024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36208" y="2121408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Limitado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2029968"/>
            <a:ext cx="164592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02168" y="2121408"/>
            <a:ext cx="1517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505456"/>
            <a:ext cx="22860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29768" y="2596896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Elastic SIEM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97480" y="2505456"/>
            <a:ext cx="155448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61488" y="2596896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€10k–€30k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97680" y="2505456"/>
            <a:ext cx="18288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361688" y="2596896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Parcial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2505456"/>
            <a:ext cx="192024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36208" y="2596896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38160" y="2505456"/>
            <a:ext cx="164592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02168" y="2596896"/>
            <a:ext cx="1517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Parcial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2980944"/>
            <a:ext cx="22860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29768" y="3072384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Datadog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697480" y="2980944"/>
            <a:ext cx="155448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761488" y="3072384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€20k–€60k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97680" y="2980944"/>
            <a:ext cx="182880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361688" y="3072384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2980944"/>
            <a:ext cx="192024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36208" y="3072384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38160" y="2980944"/>
            <a:ext cx="1645920" cy="438912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02168" y="3072384"/>
            <a:ext cx="1517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5C5C"/>
                </a:solidFill>
              </a:rPr>
              <a:t>Não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" y="3456432"/>
            <a:ext cx="2286000" cy="438912"/>
          </a:xfrm>
          <a:prstGeom prst="rect">
            <a:avLst/>
          </a:prstGeom>
          <a:solidFill>
            <a:srgbClr val="05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29768" y="3547872"/>
            <a:ext cx="21579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8A"/>
                </a:solidFill>
              </a:rPr>
              <a:t>Log Monitor MLOps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97480" y="3456432"/>
            <a:ext cx="1554480" cy="438912"/>
          </a:xfrm>
          <a:prstGeom prst="rect">
            <a:avLst/>
          </a:prstGeom>
          <a:solidFill>
            <a:srgbClr val="05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761488" y="3547872"/>
            <a:ext cx="14264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8A"/>
                </a:solidFill>
              </a:rPr>
              <a:t>€0 (OS)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97680" y="3456432"/>
            <a:ext cx="1828800" cy="438912"/>
          </a:xfrm>
          <a:prstGeom prst="rect">
            <a:avLst/>
          </a:prstGeom>
          <a:solidFill>
            <a:srgbClr val="05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361688" y="3547872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8A"/>
                </a:solidFill>
              </a:rPr>
              <a:t>SHAP+LIME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72200" y="3456432"/>
            <a:ext cx="1920240" cy="438912"/>
          </a:xfrm>
          <a:prstGeom prst="rect">
            <a:avLst/>
          </a:prstGeom>
          <a:solidFill>
            <a:srgbClr val="05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236208" y="3547872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8A"/>
                </a:solidFill>
              </a:rPr>
              <a:t>Sim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38160" y="3456432"/>
            <a:ext cx="1645920" cy="438912"/>
          </a:xfrm>
          <a:prstGeom prst="rect">
            <a:avLst/>
          </a:prstGeom>
          <a:solidFill>
            <a:srgbClr val="053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02168" y="3547872"/>
            <a:ext cx="15179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D68A"/>
                </a:solidFill>
              </a:rPr>
              <a:t>Sim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65760" y="406908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6D68A"/>
                </a:solidFill>
              </a:rPr>
              <a:t>Gap preenchido: explicabilidade nativa, ML adaptativo, open-source — a €0 vs €30k–€100k/ano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11/14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10 — Pertinência e Viabilidade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Regulatória · Científica · Económica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70941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3709416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946148" y="1234440"/>
            <a:ext cx="548640" cy="5486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46148" y="12710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20"/>
            <a:ext cx="3526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B4D8"/>
                </a:solidFill>
              </a:rPr>
              <a:t>Regulatória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331720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GDPR Art. 22: direito à explicação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2898648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AI Act (2024): sistemas de alto risco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465576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NIS2: cibersegurança obrigatória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4032504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Conformidade por design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39768" y="1143000"/>
            <a:ext cx="370941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39768" y="1143000"/>
            <a:ext cx="3709416" cy="54864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20156" y="1234440"/>
            <a:ext cx="548640" cy="54864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20156" y="12710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31208" y="1874520"/>
            <a:ext cx="3526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6D68A"/>
                </a:solidFill>
              </a:rPr>
              <a:t>Científica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9496" y="2331720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XAI aplicado a cibersegurança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9496" y="2898648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Ablation study: ensemble &gt; solo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9496" y="3465576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Novelty detection sem labels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9496" y="4032504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Publicável — contribuição real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3776" y="1143000"/>
            <a:ext cx="370941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13776" y="1143000"/>
            <a:ext cx="3709416" cy="54864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694164" y="1234440"/>
            <a:ext cx="548640" cy="54864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4164" y="127101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05216" y="1874520"/>
            <a:ext cx="3526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9F1C"/>
                </a:solidFill>
              </a:rPr>
              <a:t>Económica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3504" y="2331720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254 h de trabalho individual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3504" y="2898648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€0 custo de ferramentas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3504" y="3465576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Equivale a €30k–€100k/ano SIEM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3504" y="4032504"/>
            <a:ext cx="3489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▸ Viável para PMEs e academia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12/14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11 — Planeamento — Goals A–D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27 semanas  ·  4 fases incrementais  ·  4 milestones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1097280" cy="121843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21615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Goal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819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S1–S8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143000"/>
            <a:ext cx="9034272" cy="1218438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1325880"/>
            <a:ext cx="8714232" cy="852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Setup + Ingestão + Rule Engine + ML + Explainability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88752" y="1252728"/>
            <a:ext cx="1188720" cy="41148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588752" y="12801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Concluído 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34590"/>
            <a:ext cx="1097280" cy="1218438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250774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Goal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87350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S9–S13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08760" y="2434590"/>
            <a:ext cx="9034272" cy="1218438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645920" y="2617470"/>
            <a:ext cx="8714232" cy="852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Docker Orchestration + Monitorização + Dashboard + Testing + CI/CD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88752" y="2544318"/>
            <a:ext cx="1188720" cy="411480"/>
          </a:xfrm>
          <a:prstGeom prst="rect">
            <a:avLst/>
          </a:prstGeom>
          <a:solidFill>
            <a:srgbClr val="06D6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588752" y="257175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Concluído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726180"/>
            <a:ext cx="1097280" cy="1218438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79933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Goal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1650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S14–S16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08760" y="3726180"/>
            <a:ext cx="9034272" cy="1218438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45920" y="3909060"/>
            <a:ext cx="8714232" cy="852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Security Hardening + Demo + Documentação Intercalar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88752" y="3835908"/>
            <a:ext cx="1188720" cy="411480"/>
          </a:xfrm>
          <a:prstGeom prst="rect">
            <a:avLst/>
          </a:prstGeom>
          <a:solidFill>
            <a:srgbClr val="FF9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588752" y="386334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Em curso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017770"/>
            <a:ext cx="1097280" cy="121843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509092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</a:rPr>
              <a:t>Goal 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545668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1B2A"/>
                </a:solidFill>
              </a:rPr>
              <a:t>S17–S23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508760" y="5017770"/>
            <a:ext cx="9034272" cy="1218438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645920" y="5200650"/>
            <a:ext cx="8714232" cy="8526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API REST Pública + Alertas + Dashboard Avançado + Relatório Final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88752" y="5127498"/>
            <a:ext cx="1188720" cy="411480"/>
          </a:xfrm>
          <a:prstGeom prst="rect">
            <a:avLst/>
          </a:prstGeom>
          <a:solidFill>
            <a:srgbClr val="CC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88752" y="515493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Planeado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13/14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10058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0972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B4D8"/>
                </a:solidFill>
              </a:rPr>
              <a:t>12 — Estado Actual &amp; Próximos Passos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5836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D6E0"/>
                </a:solidFill>
              </a:rPr>
              <a:t>Semana 14 — 100% operacional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54086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8A"/>
                </a:solidFill>
              </a:rPr>
              <a:t>Estado Actual (S14) — Operacional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55064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Ingestão: 10.933 logs/s (batch=500)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84832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Rule Engine: 6 regras, 0 FP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14600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IF: F1=0,838  |  RF: F1=0,783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44368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81 testes, cobertura 70,97% 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374136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3 dashboards Grafana ativos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03903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CI/CD: Pylint, Bandit, Trivy 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233672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Security: 0 HIGH/MEDIUM findings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63440"/>
            <a:ext cx="53172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✓ 5 containers non-root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1636" y="1143000"/>
            <a:ext cx="5591556" cy="5166360"/>
          </a:xfrm>
          <a:prstGeom prst="rect">
            <a:avLst/>
          </a:prstGeom>
          <a:solidFill>
            <a:srgbClr val="0A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3076" y="1216152"/>
            <a:ext cx="54086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Próximas Semanas (S15–S16)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23076" y="1655064"/>
            <a:ext cx="43891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3076" y="1700784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25996" y="1655064"/>
            <a:ext cx="48600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Cobertura testes ≥ 75%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3076" y="2084832"/>
            <a:ext cx="43891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23076" y="213055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25996" y="2084832"/>
            <a:ext cx="48600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Documentação intercalar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23076" y="2514600"/>
            <a:ext cx="43891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23076" y="2560320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25996" y="2514600"/>
            <a:ext cx="48600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Demo ao vivo preparada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23076" y="2944368"/>
            <a:ext cx="438912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23076" y="2990088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5996" y="2944368"/>
            <a:ext cx="48600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Relatório final revisto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23076" y="3374136"/>
            <a:ext cx="438912" cy="3474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23076" y="3419856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S17+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25996" y="3374136"/>
            <a:ext cx="48600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Goal D: API REST pública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23076" y="3803903"/>
            <a:ext cx="438912" cy="3474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23076" y="3849623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S17+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25996" y="3803903"/>
            <a:ext cx="48600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Alerting avançado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23076" y="4233672"/>
            <a:ext cx="438912" cy="347472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23076" y="4279392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</a:rPr>
              <a:t>S23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25996" y="4233672"/>
            <a:ext cx="486003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Relatório final completo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14/14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59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B4D8"/>
                </a:solidFill>
              </a:rPr>
              <a:t>Conclusão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188720"/>
            <a:ext cx="10360152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0360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Sistema 100% operacional em ambiente containerizado — demonstração ao vivo possível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84248"/>
            <a:ext cx="10360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Goals A, B e C concluídos em 14 semanas com desenvolvimento individual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6"/>
            <a:ext cx="10360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Performance comprovada: 10.933 logs/s, F1=0,838, 0 falhas em stress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18104"/>
            <a:ext cx="10360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Segurança robusta: non-root containers, 0 HIGH/MEDIUM Bandit, 54 testes de segurança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85032"/>
            <a:ext cx="10360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Explicabilidade nativa (SHAP + LIME) em conformidade com GDPR Art. 22 e AI 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1036015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▸  Alternativa open-source a soluções €30k–€100k/ano — viável para PMEs e academia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5029200"/>
            <a:ext cx="9445752" cy="3657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516636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B4D8"/>
                </a:solidFill>
              </a:rPr>
              <a:t>Obrigado  ·  Questões?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150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Raúl Brito (A22309632)  ·  raulrazer123@gmail.com  ·  IPLUSO — EET  · 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5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82880" y="656539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6E0"/>
                </a:solidFill>
              </a:rPr>
              <a:t>Log Monitor MLOps  ·  Raúl Brito (A22309632)  ·  IPLUSO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6E0"/>
                </a:solidFill>
              </a:rPr>
              <a:t>15/15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1727</Words>
  <Application>Microsoft Office PowerPoint</Application>
  <PresentationFormat>Custom</PresentationFormat>
  <Paragraphs>334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Raúl Brito</cp:lastModifiedBy>
  <cp:revision>2</cp:revision>
  <dcterms:created xsi:type="dcterms:W3CDTF">2013-01-27T09:14:16Z</dcterms:created>
  <dcterms:modified xsi:type="dcterms:W3CDTF">2026-05-05T13:16:04Z</dcterms:modified>
  <cp:category/>
</cp:coreProperties>
</file>