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1" r:id="rId9"/>
    <p:sldId id="262" r:id="rId10"/>
    <p:sldId id="263" r:id="rId11"/>
    <p:sldId id="273" r:id="rId12"/>
    <p:sldId id="274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4D8"/>
                </a:solidFill>
              </a:rPr>
              <a:t>LOG MONITOR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Sistema Híbrido de Deteção de Anomalias em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Relatório Intermédio  ·  Projeto Integrado LEIA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023360"/>
            <a:ext cx="57881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</a:rPr>
              <a:t>Raúl Brito   |   A22309632   |   Orientador: Acácio Carmona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IPLUSO — EET  ·  06 / 05 /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5212080"/>
            <a:ext cx="26517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5230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Semana 14  ·  Goals A–C Concluídos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15 minutos  ·  18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993" y="1279657"/>
            <a:ext cx="6301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7101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2824" y="1271016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Solução Proposta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1848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8907" y="1599640"/>
            <a:ext cx="4606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1581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Arquitectura (10 microserviços)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61848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0256" y="1618488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581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Pipeline ML Híbrido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1953250"/>
            <a:ext cx="3474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1929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Resultados de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65960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90919" y="1965960"/>
            <a:ext cx="384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938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</a:rPr>
              <a:t>Monitorização</a:t>
            </a:r>
            <a:r>
              <a:rPr sz="1400" b="0" i="0" dirty="0">
                <a:solidFill>
                  <a:srgbClr val="FFFFFF"/>
                </a:solidFill>
              </a:rPr>
              <a:t> &amp; </a:t>
            </a:r>
            <a:r>
              <a:rPr sz="1400" b="0" i="0" dirty="0" err="1">
                <a:solidFill>
                  <a:srgbClr val="FFFFFF"/>
                </a:solidFill>
              </a:rPr>
              <a:t>Observabilidade</a:t>
            </a:r>
            <a:endParaRPr sz="1400" b="0" i="0" dirty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2313432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2313432"/>
            <a:ext cx="3474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Security Hardening (S14)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13432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0255" y="2313431"/>
            <a:ext cx="3474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CI/CD &amp; Qualidade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60904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" y="2667259"/>
            <a:ext cx="3474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Benchmarking &amp; Gap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660904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0256" y="2660904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D1B2A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Pertinência e Viabilidade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0837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6344" y="3000512"/>
            <a:ext cx="3474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2971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Planeamento — Goals A–D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00837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0256" y="3008376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2971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Estado Atual &amp; Próximos Passos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35584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4632" y="3355848"/>
            <a:ext cx="329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33192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 — 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Contexto e Motivação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Organizações geram milhões de logs/dia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Análise manual é inviável à escala atual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Ataques modernos requerem deteção 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2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GDPR Art. 22 &amp; AI Act exigem explicabilidade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28416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NIS2: requisitos de cibersegurança obrigatórios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8796" y="1234440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Lacuna de 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164592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€30k–€100k/ano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3276" y="1645920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Custo das soluções SIEM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20665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Splunk / QRadar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3276" y="2066544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Desenhados para grandes orgs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248716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Sem explicabilidade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3276" y="2487168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Caixas-negras sem justificação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90779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Sem feedback ML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276" y="2907792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Regras estáticas, sem aprendizagem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332841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Open-source?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3276" y="3328416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Não há alternativa academicamente rigorosa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3/18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2 — Solução Proposta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Log Monitor MLOps — alternativa open-source, demo-ready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90E0EF"/>
                </a:solidFill>
              </a:rPr>
              <a:t>Sistema híbrido de deteção de anomalias em logs de aplicações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727704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8A"/>
                </a:solidFill>
              </a:rPr>
              <a:t>Regras SQL
Determinísticas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6 padrões de ataque 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0 falsos positivos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Latência 7,6–40,8 ms/regra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SQL nativo — auditável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0624" y="1737360"/>
            <a:ext cx="372770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2064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Machine Learning
Não-Supervisionado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2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Isolation Forest (novelty)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352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F1 = 0,838  |  ROC-AUC 0,95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0352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Treino apenas em normais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0352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Detecta ataques nunca vistos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5488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8" y="1737360"/>
            <a:ext cx="3727704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6928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Explicabilidade
SHAP + LIME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5216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Cada decisão tem justificação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5216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Conformidade GDPR Art. 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5216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AI Act: transparência obrigatória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5216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Ablation study confirma ensemble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4/18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3 —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10 microserviços · 5 camadas ·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828800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Aplicação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143000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289304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Flask app (gerador de logs + API ingestão)  ·  Pydantic  ·  Flask-Limiter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19656"/>
            <a:ext cx="1828800" cy="62179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9568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Armazenamento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1819656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965960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PostgreSQL + TimescaleDB (hypertables)  ·  ACID  ·  séries temporais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96312"/>
            <a:ext cx="1828800" cy="621792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633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Detecção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79" y="2496312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2642616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Rule Engine SQL (6 regras)  +  ML Pipeline (Isolation Forest + Random Forest + MLflow)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72968"/>
            <a:ext cx="1828800" cy="62179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310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Explicabilidade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79" y="3172968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3319272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SHAP  ·  LIME  ·  Ablation study  ·  Feedback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9624"/>
            <a:ext cx="1828800" cy="62179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39867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Monitorização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79" y="3849624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995928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Prometheus (9 métricas custom)  ·  Grafana (3 dashboards)  ·  Streamlit dashboard  ·  SLOs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828800" cy="62179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Infraestrutura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79" y="4526280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77440" y="4672584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Docker Compose (multi-stage builds: ~1,2 GB → ~180 MB/img)  ·  GitHub Actions CI/CD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5/18</a:t>
            </a:r>
          </a:p>
        </p:txBody>
      </p:sp>
      <p:pic>
        <p:nvPicPr>
          <p:cNvPr id="34" name="Picture 33" descr="2DockerCompos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166360"/>
            <a:ext cx="11594528" cy="1633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4 — Pipeline ML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Isolation Forest + Random Forest + SHAP (implementado)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91556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9576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Isolation Forest (não-supervisionado)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Treino: apenas logs normais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Teste: ataques nunca vistos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51176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F1-Score = 0,838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26664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Precision@1% = 0,941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02152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ROC-AUC = 0,950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Protocolo novelty-by-scenario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5312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detecta zero-day sem labels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5591556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3076" y="1179576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Random Forest (supervisionado) +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8796" y="160020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Treino com labels de ataque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207568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▸ F1-Score = 0,783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551176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▸ Ablation: ensemble &gt; IF solo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026664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SHAP: importância de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3502152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LIME: Goal D — planeado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97764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MLflow: tracking &amp; versionamento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445312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conformidade GDPR Art. 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6/18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MLflow — Experiment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Rastreamento de experimentos · Versionamento de modelos · Métricas ao vivo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7/18</a:t>
            </a:r>
          </a:p>
        </p:txBody>
      </p:sp>
      <p:pic>
        <p:nvPicPr>
          <p:cNvPr id="34" name="Picture 33" descr="mlFlow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1233069"/>
            <a:ext cx="10058400" cy="50776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4b — Explicabilidade — SHAP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8368"/>
            <a:ext cx="10058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</a:rPr>
              <a:t>Feature Importance · Explicação de Anomalia 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Feature Importance (SHAP)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43000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Ablation Study: Regras vs ML vs Híbrido</a:t>
            </a:r>
          </a:p>
        </p:txBody>
      </p:sp>
      <p:pic>
        <p:nvPicPr>
          <p:cNvPr id="10" name="Picture 9" descr="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394960" cy="3549315"/>
          </a:xfrm>
          <a:prstGeom prst="rect">
            <a:avLst/>
          </a:prstGeom>
        </p:spPr>
      </p:pic>
      <p:pic>
        <p:nvPicPr>
          <p:cNvPr id="11" name="Picture 10" descr="abl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559552" cy="33092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5 — Resultados de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Métricas medidas em testes reais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618988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Ingestão de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10.933 logs/s  (batch=500)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5623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Batch=50:  6.493 logs/s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0370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Batch=100: 7.145 logs/s  (+10%)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5117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Batch=500: 10.933 logs/s (+68%)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9864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Batch=1000: 13.646 logs/s (+110%)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4612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100.000 logs em 9 s  ·  39M/hora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4204" y="114300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4204" y="1143000"/>
            <a:ext cx="5618988" cy="32918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5644" y="117043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Testes de 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5644" y="150876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50 users  ·  0 falhas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3932" y="185623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Latência mediana: 3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3932" y="220370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p95: 10 ms  ·  p99: 25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932" y="255117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50.000 logs stress test: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289864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Locust 30s run, 50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3932" y="324612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0% error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1762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817620"/>
            <a:ext cx="5618988" cy="32918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84505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Rule Engine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8338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6 regras  ·  0 falsos positivos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53085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Latência por regra: 7,6–40,8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87832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Brute force, scanning, SQLi...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22579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Rate abuse, DDoS, path traversal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57326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Deteção em tempo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92074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 false positives confirmados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4204" y="381762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04204" y="3817620"/>
            <a:ext cx="5618988" cy="32918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95644" y="384505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Qualidade de Código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5644" y="418338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Pylint 9,18/10  ·  102 testes (87 passaram)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3932" y="453085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Cobertura: 70,97% (CI ≥70% ✓)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3932" y="487832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 HIGH/MEDIUM no Bandit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3932" y="522579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54 testes de segurança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932" y="557326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CI threshold cumprido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3932" y="592074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 containers non-root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9/18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6 — Monitorização &amp; 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Prometheus + Grafana + Streamlit + SLOs definidos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27704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Prometheus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9 métricas custom logmonitor_*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Scrape interval: 15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Alertmanager configurado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Integração nativa com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Retenção 15 dias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0624" y="1143000"/>
            <a:ext cx="3727704" cy="3657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3776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2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3 dashboards auto-provisionados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352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Overview · ML ·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0352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Provisioning via 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0352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SLO visibility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0352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Zero-config ao startup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5488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5488" y="1143000"/>
            <a:ext cx="3727704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68640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SLOs Definidos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5216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Disponibilidade ≥ 99,5%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5216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p95 latência &lt; 200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5216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F1 do modelo ≥ 0,75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5216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Data freshness &lt;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5216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Streamlit dashboard operacional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10/18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Grafana + Prometheus — Dashboards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3 dashboards auto-provisionados · 9 métricas custom · scrape 15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11/18</a:t>
            </a:r>
          </a:p>
        </p:txBody>
      </p:sp>
      <p:pic>
        <p:nvPicPr>
          <p:cNvPr id="34" name="Picture 33" descr="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920240"/>
            <a:ext cx="5760720" cy="2925148"/>
          </a:xfrm>
          <a:prstGeom prst="rect">
            <a:avLst/>
          </a:prstGeom>
        </p:spPr>
      </p:pic>
      <p:pic>
        <p:nvPicPr>
          <p:cNvPr id="35" name="Picture 34" descr="Promethe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920240"/>
            <a:ext cx="5760720" cy="30439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Streamlit + Alertmanager — Monitorização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Dashboard interativo · Alertas configurados · SLOs visíveis em tempo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12/18</a:t>
            </a:r>
          </a:p>
        </p:txBody>
      </p:sp>
      <p:pic>
        <p:nvPicPr>
          <p:cNvPr id="34" name="Picture 33" descr="Stream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7" y="1848493"/>
            <a:ext cx="5897149" cy="3101277"/>
          </a:xfrm>
          <a:prstGeom prst="rect">
            <a:avLst/>
          </a:prstGeom>
        </p:spPr>
      </p:pic>
      <p:pic>
        <p:nvPicPr>
          <p:cNvPr id="35" name="Picture 34" descr="Alert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850434"/>
            <a:ext cx="5893372" cy="31012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7 — Security Hardening (S14)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Segurança aplicada em toda a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8A"/>
                </a:solidFill>
              </a:rPr>
              <a:t>Medidas Implementadas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 Dockerfiles: non-root user (appuser)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Rate limiting em rotas sensíveis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2374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Validação de inputs (Pydantic)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Bandit: 0 HIGH / 0 MEDIUM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01568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Trivy container scanning no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Dependabot: dependências actualizadas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79391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54 testes de segurança a passar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1830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Secrets em variáveis de ambiente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6" y="1216152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Contexto Regulatório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3076" y="1645920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4516" y="1682496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OWASP Top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1920240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Input validation, rate limiting, secrets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2304288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4516" y="2340864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GDPR Art.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2578608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Explicabilidade de decisões automáticas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3076" y="2962656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4516" y="2999232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AI Act (2024)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4516" y="3236976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Sistemas de IA de alto risco: transparência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3076" y="3621024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4516" y="3657600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NIS2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516" y="3895344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Cibersegurança obrigatória para serviços essenciais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3076" y="4279391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4516" y="4315967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Non-root containers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4516" y="4553711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Princípio do menor privilégio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13/18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8 — CI/CD &amp;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GitHub Actions · 102 testes (87 passaram) · Cobertura 70,97%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591056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Push
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6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2536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Pylint
9,18/10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9312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Bandit
0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Trivy
Scanning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12864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0296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Unit Tests
70,97%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7072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Load Test
0 falhas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0696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86416" y="1417320"/>
            <a:ext cx="1591056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13848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Deploy
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2651760"/>
            <a:ext cx="1591056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102 testes (87 passaram)
automatizados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02536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02536" y="2651760"/>
            <a:ext cx="159105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48256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8A"/>
                </a:solidFill>
              </a:rPr>
              <a:t>Cobertura
70,97%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9312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39312" y="2651760"/>
            <a:ext cx="159105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85032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8A"/>
                </a:solidFill>
              </a:rPr>
              <a:t>Pylint
9,18/10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76088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276088" y="2651760"/>
            <a:ext cx="1591056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21808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F1C"/>
                </a:solidFill>
              </a:rPr>
              <a:t>Threshold CI
≥ 70%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12864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12864" y="2651760"/>
            <a:ext cx="1591056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58584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Dependabot
automático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49640" y="2651760"/>
            <a:ext cx="1591056" cy="5486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0"/>
                </a:solidFill>
              </a:rPr>
              <a:t>Multi-stage
build Docker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86416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186416" y="2651760"/>
            <a:ext cx="159105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32136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Semana 13
Integrado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7490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0"/>
                </a:solidFill>
              </a:rPr>
              <a:t>Pipeline CI/CD garante qualidade e segurança em cada commit — nenhum merge sem testes passados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14/18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9 — Benchmarking &amp;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Posicionamento face a soluções comerciais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Solução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43000"/>
            <a:ext cx="15544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Custo/ano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18288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Explicabilidade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19202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ML Adaptativo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1645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Open-source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54480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6459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Splunk SIEM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1554480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1488" y="1645920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€50k–€100k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54480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1645920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554480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1645920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554480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1645920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029968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12140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IBM QRadar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2029968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61488" y="2121408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€30k–€80k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029968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61688" y="2121408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029968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2121408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Limitado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029968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2168" y="2121408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505456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" y="259689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Elastic SIEM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2505456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61488" y="2596896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€10k–€30k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505456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61688" y="2596896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505456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2596896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2505456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2168" y="2596896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80944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9768" y="3072384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Datadog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2980944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61488" y="30723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€20k–€60k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2980944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88" y="3072384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980944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3072384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2980944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8" y="3072384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456432"/>
            <a:ext cx="228600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9768" y="354787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Log Monitor MLOps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3456432"/>
            <a:ext cx="155448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61488" y="3547872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€0 (OS)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3456432"/>
            <a:ext cx="182880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61688" y="3547872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SHAP+LIME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3456432"/>
            <a:ext cx="192024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36208" y="354787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3456432"/>
            <a:ext cx="164592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2168" y="3547872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Sim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0690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8A"/>
                </a:solidFill>
              </a:rPr>
              <a:t>Gap preenchido: explicabilidade nativa, ML adaptativo, open-source — a €0 vs €30k–€100k/ano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15/18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10 — Pertinência e Viabilidade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Regulatória · Científica · Económica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9416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46148" y="1234440"/>
            <a:ext cx="54864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46148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Regulatória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GDPR Art. 22: direito à explicação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AI Act (2024): sistemas de alto risco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NIS2: cibersegurança obrigatória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Conformidade por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9768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39768" y="1143000"/>
            <a:ext cx="370941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20156" y="1234440"/>
            <a:ext cx="548640" cy="5486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20156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1208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8A"/>
                </a:solidFill>
              </a:rPr>
              <a:t>Científica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XAI aplicado a cibersegurança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9496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Ablation study: ensemble &gt; solo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9496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Novelty detection sem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9496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Publicável — contribuição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3776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13776" y="1143000"/>
            <a:ext cx="3709416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4164" y="1234440"/>
            <a:ext cx="54864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4164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5216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Económica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3504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254 h de trabalho individual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3504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€0 custo de ferramentas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3504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Equivale a €30k–€100k/ano SIEM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3504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Viável para PMEs e academia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16/18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11 — Planeamento — Goals A–D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27 semanas  ·  4 fases incrementais  ·  4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0" cy="1218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S1–S8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14300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32588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Setup + Ingestão + Rule Engine + ML + Explainability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8752" y="1252728"/>
            <a:ext cx="1188720" cy="4114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88752" y="12801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Concluído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34590"/>
            <a:ext cx="1097280" cy="1218438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50774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7350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S9–S13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43459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261747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Docker Orchestration + Monitorização + Dashboard + Testing + CI/CD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88752" y="2544318"/>
            <a:ext cx="1188720" cy="4114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88752" y="257175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Concluído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26180"/>
            <a:ext cx="1097280" cy="121843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7993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650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S14–S16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372618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390906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Security Hardening + Demo + Documentação Intercalar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88752" y="3835908"/>
            <a:ext cx="1188720" cy="411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88752" y="38633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Em curso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17770"/>
            <a:ext cx="1097280" cy="121843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09092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5668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S17–S23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501777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45920" y="520065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API REST Pública + Alertas + Dashboard Avançado + Relatório Final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88752" y="5127498"/>
            <a:ext cx="1188720" cy="41148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88752" y="515493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Planeado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17/18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4D8"/>
                </a:solidFill>
              </a:rPr>
              <a:t>12 — Estado </a:t>
            </a:r>
            <a:r>
              <a:rPr sz="2800" b="1" i="0" dirty="0" err="1">
                <a:solidFill>
                  <a:srgbClr val="00B4D8"/>
                </a:solidFill>
              </a:rPr>
              <a:t>Atual</a:t>
            </a:r>
            <a:r>
              <a:rPr sz="2800" b="1" i="0" dirty="0">
                <a:solidFill>
                  <a:srgbClr val="00B4D8"/>
                </a:solidFill>
              </a:rPr>
              <a:t> &amp; </a:t>
            </a:r>
            <a:r>
              <a:rPr sz="2800" b="1" i="0" dirty="0" err="1">
                <a:solidFill>
                  <a:srgbClr val="00B4D8"/>
                </a:solidFill>
              </a:rPr>
              <a:t>Próximos</a:t>
            </a:r>
            <a:r>
              <a:rPr sz="2800" b="1" i="0" dirty="0">
                <a:solidFill>
                  <a:srgbClr val="00B4D8"/>
                </a:solidFill>
              </a:rPr>
              <a:t>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Semana 14 — 100% operacional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8A"/>
                </a:solidFill>
              </a:rPr>
              <a:t>Estado Actual (S14) —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Ingestão: 10.933 logs/s (batch=500)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Rule Engine: 6 regras, 0 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IF: F1=0,838  |  RF: F1=0,783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102 testes (87 passaram), cobertura 70,97%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74136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3 dashboards Grafana ativos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03903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CI/CD: Pylint, Bandit, Trivy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3367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Security: 0 HIGH/MEDIUM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 containers non-root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6" y="1216152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Próximas Semanas (S15–S16)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3076" y="1655064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3076" y="170078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5996" y="1655064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Cobertura testes ≥ 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2084832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3076" y="213055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5996" y="2084832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Documentação intercalar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3076" y="2514600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3076" y="256032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5996" y="2514600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Demo ao vivo preparada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3076" y="2944368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3076" y="29900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5996" y="2944368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Relatório final revisto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3076" y="3374136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3076" y="3419856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S17+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5996" y="3374136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Goal D: API REST pública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3076" y="3803903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3076" y="3849623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S17+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5996" y="3803903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Alerting avançado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3076" y="4233672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3076" y="427939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5996" y="4233672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Relatório final completo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18/18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03601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Sistema 100% operacional em ambiente containerizado — demonstração ao vivo possível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Goals A, B e C concluídos em 14 semanas com desenvolvimento 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6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Performance comprovada: 10.933 logs/s, F1=0,838, 0 falhas em stress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18104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Segurança robusta: non-root containers, 0 HIGH/MEDIUM Bandit, 54 testes de 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Explicabilidade nativa — SHAP implementado (LIME planeado Goal D) em conformidade com GDPR Art. 22 e AI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Alternativa open-source a soluções €30k–€100k/ano — viável para PMEs e academia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94457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Obrigado  ·  Questões?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Raúl Brito (A22309632)  ·  raulrazer123@gmail.com  ·  IPLUSO — EET  ·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18/18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1876</Words>
  <Application>Microsoft Office PowerPoint</Application>
  <PresentationFormat>Custom</PresentationFormat>
  <Paragraphs>352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Raúl Brito</cp:lastModifiedBy>
  <cp:revision>7</cp:revision>
  <dcterms:created xsi:type="dcterms:W3CDTF">2013-01-27T09:14:16Z</dcterms:created>
  <dcterms:modified xsi:type="dcterms:W3CDTF">2026-05-06T08:27:17Z</dcterms:modified>
  <cp:category/>
</cp:coreProperties>
</file>